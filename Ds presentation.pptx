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E5F22D-D1E6-FAE0-BC4A-63D6B7B3C92B}" v="1676" dt="2025-11-17T04:54:53.141"/>
    <p1510:client id="{ABE474EA-138F-1769-6256-F3175731F7B3}" v="14" dt="2025-11-17T01:21:51.757"/>
    <p1510:client id="{C42F5F4F-6B9E-53E2-7D1C-F7081FEE36E3}" v="305" dt="2025-11-17T02:27:36.723"/>
    <p1510:client id="{CDBDF1C3-A696-5613-D754-1B9962955F3D}" v="60" dt="2025-11-17T03:01:56.1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BF42C3-15A2-46B8-9327-AAD1BF41E87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C95DA86-9A39-4C2F-AFD4-FA16E3EC2725}">
      <dgm:prSet/>
      <dgm:spPr/>
      <dgm:t>
        <a:bodyPr/>
        <a:lstStyle/>
        <a:p>
          <a:r>
            <a:rPr lang="en-US"/>
            <a:t>Despite the large dataset (or maybe as a result of it) there wasn't many trends in it. Many were unable to be determined any clear pattern. </a:t>
          </a:r>
        </a:p>
      </dgm:t>
    </dgm:pt>
    <dgm:pt modelId="{3FCC78C5-AF8B-4159-B2EA-F2250F19CAAA}" type="parTrans" cxnId="{9DA4E72A-475A-4FA8-89FB-2C08DB0F8E44}">
      <dgm:prSet/>
      <dgm:spPr/>
      <dgm:t>
        <a:bodyPr/>
        <a:lstStyle/>
        <a:p>
          <a:endParaRPr lang="en-US"/>
        </a:p>
      </dgm:t>
    </dgm:pt>
    <dgm:pt modelId="{D17E5194-06BE-41CF-8583-364ADA246657}" type="sibTrans" cxnId="{9DA4E72A-475A-4FA8-89FB-2C08DB0F8E44}">
      <dgm:prSet/>
      <dgm:spPr/>
      <dgm:t>
        <a:bodyPr/>
        <a:lstStyle/>
        <a:p>
          <a:endParaRPr lang="en-US"/>
        </a:p>
      </dgm:t>
    </dgm:pt>
    <dgm:pt modelId="{27DFBA98-D344-4B1A-8370-E8773988AAED}">
      <dgm:prSet/>
      <dgm:spPr/>
      <dgm:t>
        <a:bodyPr/>
        <a:lstStyle/>
        <a:p>
          <a:r>
            <a:rPr lang="en-US"/>
            <a:t>There were some patterns however most surprisingly Mediam age actually decreased with smaller countries on average having an higher mediam age.</a:t>
          </a:r>
        </a:p>
      </dgm:t>
    </dgm:pt>
    <dgm:pt modelId="{895C7F61-4404-4FFD-ADAD-60FD10CCC240}" type="parTrans" cxnId="{517F5DDF-494F-4964-96F3-FF079595E17C}">
      <dgm:prSet/>
      <dgm:spPr/>
      <dgm:t>
        <a:bodyPr/>
        <a:lstStyle/>
        <a:p>
          <a:endParaRPr lang="en-US"/>
        </a:p>
      </dgm:t>
    </dgm:pt>
    <dgm:pt modelId="{F5538E8E-3CA0-49D7-A887-CA0486FA7067}" type="sibTrans" cxnId="{517F5DDF-494F-4964-96F3-FF079595E17C}">
      <dgm:prSet/>
      <dgm:spPr/>
      <dgm:t>
        <a:bodyPr/>
        <a:lstStyle/>
        <a:p>
          <a:endParaRPr lang="en-US"/>
        </a:p>
      </dgm:t>
    </dgm:pt>
    <dgm:pt modelId="{DC05F55E-D24E-4F8E-9D4F-D73D7F5318FD}">
      <dgm:prSet/>
      <dgm:spPr/>
      <dgm:t>
        <a:bodyPr/>
        <a:lstStyle/>
        <a:p>
          <a:r>
            <a:rPr lang="en-US"/>
            <a:t>inversly data like migrants, world share and land area increased proportionally to population with more populated countries tending to have these in surplus.</a:t>
          </a:r>
        </a:p>
      </dgm:t>
    </dgm:pt>
    <dgm:pt modelId="{A34B27B6-6982-41E9-A17A-0F6907FD5909}" type="parTrans" cxnId="{44481ACB-2FDA-4B0B-9F30-432F8DCF5000}">
      <dgm:prSet/>
      <dgm:spPr/>
      <dgm:t>
        <a:bodyPr/>
        <a:lstStyle/>
        <a:p>
          <a:endParaRPr lang="en-US"/>
        </a:p>
      </dgm:t>
    </dgm:pt>
    <dgm:pt modelId="{43E9AF7F-FC6A-4B77-8F48-C73124926E85}" type="sibTrans" cxnId="{44481ACB-2FDA-4B0B-9F30-432F8DCF5000}">
      <dgm:prSet/>
      <dgm:spPr/>
      <dgm:t>
        <a:bodyPr/>
        <a:lstStyle/>
        <a:p>
          <a:endParaRPr lang="en-US"/>
        </a:p>
      </dgm:t>
    </dgm:pt>
    <dgm:pt modelId="{7EF758A5-C4A9-45C4-A423-46049DBD431E}" type="pres">
      <dgm:prSet presAssocID="{97BF42C3-15A2-46B8-9327-AAD1BF41E87F}" presName="vert0" presStyleCnt="0">
        <dgm:presLayoutVars>
          <dgm:dir/>
          <dgm:animOne val="branch"/>
          <dgm:animLvl val="lvl"/>
        </dgm:presLayoutVars>
      </dgm:prSet>
      <dgm:spPr/>
    </dgm:pt>
    <dgm:pt modelId="{7628ADDB-E849-47EB-8FA7-CA0F39A4C50B}" type="pres">
      <dgm:prSet presAssocID="{BC95DA86-9A39-4C2F-AFD4-FA16E3EC2725}" presName="thickLine" presStyleLbl="alignNode1" presStyleIdx="0" presStyleCnt="3"/>
      <dgm:spPr/>
    </dgm:pt>
    <dgm:pt modelId="{B2757D0E-80D1-48C5-BE00-8444B07052A6}" type="pres">
      <dgm:prSet presAssocID="{BC95DA86-9A39-4C2F-AFD4-FA16E3EC2725}" presName="horz1" presStyleCnt="0"/>
      <dgm:spPr/>
    </dgm:pt>
    <dgm:pt modelId="{533779BC-1CB0-47FD-BBD0-C8FC77380564}" type="pres">
      <dgm:prSet presAssocID="{BC95DA86-9A39-4C2F-AFD4-FA16E3EC2725}" presName="tx1" presStyleLbl="revTx" presStyleIdx="0" presStyleCnt="3"/>
      <dgm:spPr/>
    </dgm:pt>
    <dgm:pt modelId="{972EDC56-BA29-4A4D-A04A-00FD1E4401AE}" type="pres">
      <dgm:prSet presAssocID="{BC95DA86-9A39-4C2F-AFD4-FA16E3EC2725}" presName="vert1" presStyleCnt="0"/>
      <dgm:spPr/>
    </dgm:pt>
    <dgm:pt modelId="{7A729292-E3B6-4479-BF16-A7CB1D2FB02D}" type="pres">
      <dgm:prSet presAssocID="{27DFBA98-D344-4B1A-8370-E8773988AAED}" presName="thickLine" presStyleLbl="alignNode1" presStyleIdx="1" presStyleCnt="3"/>
      <dgm:spPr/>
    </dgm:pt>
    <dgm:pt modelId="{5A94CED4-C617-4677-9E39-136BDDDEE619}" type="pres">
      <dgm:prSet presAssocID="{27DFBA98-D344-4B1A-8370-E8773988AAED}" presName="horz1" presStyleCnt="0"/>
      <dgm:spPr/>
    </dgm:pt>
    <dgm:pt modelId="{EEAB213A-7B06-492F-B8D1-F9696669C8FF}" type="pres">
      <dgm:prSet presAssocID="{27DFBA98-D344-4B1A-8370-E8773988AAED}" presName="tx1" presStyleLbl="revTx" presStyleIdx="1" presStyleCnt="3"/>
      <dgm:spPr/>
    </dgm:pt>
    <dgm:pt modelId="{903BE5C8-B3C5-4A82-B1ED-CD5F1DA5FF62}" type="pres">
      <dgm:prSet presAssocID="{27DFBA98-D344-4B1A-8370-E8773988AAED}" presName="vert1" presStyleCnt="0"/>
      <dgm:spPr/>
    </dgm:pt>
    <dgm:pt modelId="{DF89BFC7-A1A3-4B37-8F85-5D42E63B476C}" type="pres">
      <dgm:prSet presAssocID="{DC05F55E-D24E-4F8E-9D4F-D73D7F5318FD}" presName="thickLine" presStyleLbl="alignNode1" presStyleIdx="2" presStyleCnt="3"/>
      <dgm:spPr/>
    </dgm:pt>
    <dgm:pt modelId="{AEBD2EB9-76CB-43E5-89CC-55DFDA706621}" type="pres">
      <dgm:prSet presAssocID="{DC05F55E-D24E-4F8E-9D4F-D73D7F5318FD}" presName="horz1" presStyleCnt="0"/>
      <dgm:spPr/>
    </dgm:pt>
    <dgm:pt modelId="{4C51BB16-A858-4E16-859B-C7D1552CA114}" type="pres">
      <dgm:prSet presAssocID="{DC05F55E-D24E-4F8E-9D4F-D73D7F5318FD}" presName="tx1" presStyleLbl="revTx" presStyleIdx="2" presStyleCnt="3"/>
      <dgm:spPr/>
    </dgm:pt>
    <dgm:pt modelId="{4282AFB9-5967-4E66-AD5C-948F8CCD6B92}" type="pres">
      <dgm:prSet presAssocID="{DC05F55E-D24E-4F8E-9D4F-D73D7F5318FD}" presName="vert1" presStyleCnt="0"/>
      <dgm:spPr/>
    </dgm:pt>
  </dgm:ptLst>
  <dgm:cxnLst>
    <dgm:cxn modelId="{9DA4E72A-475A-4FA8-89FB-2C08DB0F8E44}" srcId="{97BF42C3-15A2-46B8-9327-AAD1BF41E87F}" destId="{BC95DA86-9A39-4C2F-AFD4-FA16E3EC2725}" srcOrd="0" destOrd="0" parTransId="{3FCC78C5-AF8B-4159-B2EA-F2250F19CAAA}" sibTransId="{D17E5194-06BE-41CF-8583-364ADA246657}"/>
    <dgm:cxn modelId="{30A3F52D-4422-4048-B1CF-95E5FDD5DCD0}" type="presOf" srcId="{97BF42C3-15A2-46B8-9327-AAD1BF41E87F}" destId="{7EF758A5-C4A9-45C4-A423-46049DBD431E}" srcOrd="0" destOrd="0" presId="urn:microsoft.com/office/officeart/2008/layout/LinedList"/>
    <dgm:cxn modelId="{8FD67952-256F-404F-9E0D-83676B5E0C29}" type="presOf" srcId="{DC05F55E-D24E-4F8E-9D4F-D73D7F5318FD}" destId="{4C51BB16-A858-4E16-859B-C7D1552CA114}" srcOrd="0" destOrd="0" presId="urn:microsoft.com/office/officeart/2008/layout/LinedList"/>
    <dgm:cxn modelId="{23957388-CB88-4FA0-B76B-85316356CB09}" type="presOf" srcId="{27DFBA98-D344-4B1A-8370-E8773988AAED}" destId="{EEAB213A-7B06-492F-B8D1-F9696669C8FF}" srcOrd="0" destOrd="0" presId="urn:microsoft.com/office/officeart/2008/layout/LinedList"/>
    <dgm:cxn modelId="{7F278391-47B8-49A6-A078-9AF5B96E1497}" type="presOf" srcId="{BC95DA86-9A39-4C2F-AFD4-FA16E3EC2725}" destId="{533779BC-1CB0-47FD-BBD0-C8FC77380564}" srcOrd="0" destOrd="0" presId="urn:microsoft.com/office/officeart/2008/layout/LinedList"/>
    <dgm:cxn modelId="{44481ACB-2FDA-4B0B-9F30-432F8DCF5000}" srcId="{97BF42C3-15A2-46B8-9327-AAD1BF41E87F}" destId="{DC05F55E-D24E-4F8E-9D4F-D73D7F5318FD}" srcOrd="2" destOrd="0" parTransId="{A34B27B6-6982-41E9-A17A-0F6907FD5909}" sibTransId="{43E9AF7F-FC6A-4B77-8F48-C73124926E85}"/>
    <dgm:cxn modelId="{517F5DDF-494F-4964-96F3-FF079595E17C}" srcId="{97BF42C3-15A2-46B8-9327-AAD1BF41E87F}" destId="{27DFBA98-D344-4B1A-8370-E8773988AAED}" srcOrd="1" destOrd="0" parTransId="{895C7F61-4404-4FFD-ADAD-60FD10CCC240}" sibTransId="{F5538E8E-3CA0-49D7-A887-CA0486FA7067}"/>
    <dgm:cxn modelId="{72EF66C2-4DBB-46AE-B196-7EE3101176DF}" type="presParOf" srcId="{7EF758A5-C4A9-45C4-A423-46049DBD431E}" destId="{7628ADDB-E849-47EB-8FA7-CA0F39A4C50B}" srcOrd="0" destOrd="0" presId="urn:microsoft.com/office/officeart/2008/layout/LinedList"/>
    <dgm:cxn modelId="{E88DB80C-C8D6-4A25-A23D-96ECA0E92907}" type="presParOf" srcId="{7EF758A5-C4A9-45C4-A423-46049DBD431E}" destId="{B2757D0E-80D1-48C5-BE00-8444B07052A6}" srcOrd="1" destOrd="0" presId="urn:microsoft.com/office/officeart/2008/layout/LinedList"/>
    <dgm:cxn modelId="{F89AD5B2-833F-4135-B156-71941C140488}" type="presParOf" srcId="{B2757D0E-80D1-48C5-BE00-8444B07052A6}" destId="{533779BC-1CB0-47FD-BBD0-C8FC77380564}" srcOrd="0" destOrd="0" presId="urn:microsoft.com/office/officeart/2008/layout/LinedList"/>
    <dgm:cxn modelId="{4FB70381-AFF3-44A9-A90E-1404BA533D17}" type="presParOf" srcId="{B2757D0E-80D1-48C5-BE00-8444B07052A6}" destId="{972EDC56-BA29-4A4D-A04A-00FD1E4401AE}" srcOrd="1" destOrd="0" presId="urn:microsoft.com/office/officeart/2008/layout/LinedList"/>
    <dgm:cxn modelId="{17BC7EEF-9629-4520-B29E-27C151FFCB72}" type="presParOf" srcId="{7EF758A5-C4A9-45C4-A423-46049DBD431E}" destId="{7A729292-E3B6-4479-BF16-A7CB1D2FB02D}" srcOrd="2" destOrd="0" presId="urn:microsoft.com/office/officeart/2008/layout/LinedList"/>
    <dgm:cxn modelId="{4FA8B0C3-1A54-4F87-A5FD-2C7208720365}" type="presParOf" srcId="{7EF758A5-C4A9-45C4-A423-46049DBD431E}" destId="{5A94CED4-C617-4677-9E39-136BDDDEE619}" srcOrd="3" destOrd="0" presId="urn:microsoft.com/office/officeart/2008/layout/LinedList"/>
    <dgm:cxn modelId="{FB28A08E-B730-4C1C-AA6F-F7C5F2DC0C54}" type="presParOf" srcId="{5A94CED4-C617-4677-9E39-136BDDDEE619}" destId="{EEAB213A-7B06-492F-B8D1-F9696669C8FF}" srcOrd="0" destOrd="0" presId="urn:microsoft.com/office/officeart/2008/layout/LinedList"/>
    <dgm:cxn modelId="{C3128ECF-AD11-4B0A-9B9E-563DEEB4959E}" type="presParOf" srcId="{5A94CED4-C617-4677-9E39-136BDDDEE619}" destId="{903BE5C8-B3C5-4A82-B1ED-CD5F1DA5FF62}" srcOrd="1" destOrd="0" presId="urn:microsoft.com/office/officeart/2008/layout/LinedList"/>
    <dgm:cxn modelId="{492C192F-8C7A-48F0-8F8E-5A54112BC666}" type="presParOf" srcId="{7EF758A5-C4A9-45C4-A423-46049DBD431E}" destId="{DF89BFC7-A1A3-4B37-8F85-5D42E63B476C}" srcOrd="4" destOrd="0" presId="urn:microsoft.com/office/officeart/2008/layout/LinedList"/>
    <dgm:cxn modelId="{3899AEC8-2E9F-4F18-A55B-5150B1E95714}" type="presParOf" srcId="{7EF758A5-C4A9-45C4-A423-46049DBD431E}" destId="{AEBD2EB9-76CB-43E5-89CC-55DFDA706621}" srcOrd="5" destOrd="0" presId="urn:microsoft.com/office/officeart/2008/layout/LinedList"/>
    <dgm:cxn modelId="{C264FA46-B205-420B-B0DA-CDC90992D7FA}" type="presParOf" srcId="{AEBD2EB9-76CB-43E5-89CC-55DFDA706621}" destId="{4C51BB16-A858-4E16-859B-C7D1552CA114}" srcOrd="0" destOrd="0" presId="urn:microsoft.com/office/officeart/2008/layout/LinedList"/>
    <dgm:cxn modelId="{5B1B7FB9-67BF-4084-A31A-37CC3C369D7C}" type="presParOf" srcId="{AEBD2EB9-76CB-43E5-89CC-55DFDA706621}" destId="{4282AFB9-5967-4E66-AD5C-948F8CCD6B9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C3385DF-3606-4594-A7FC-4606A61EB5EE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20FF690-34AB-487A-BDEC-63920B4E59FC}">
      <dgm:prSet/>
      <dgm:spPr/>
      <dgm:t>
        <a:bodyPr/>
        <a:lstStyle/>
        <a:p>
          <a:r>
            <a:rPr lang="en-US" dirty="0"/>
            <a:t>There was some correlation found in the data however one of the problems with the data's limited scope makes any results unclear. From the time period 2024-2025 Is to small to determine any consistent results and account for any outliers. </a:t>
          </a:r>
        </a:p>
      </dgm:t>
    </dgm:pt>
    <dgm:pt modelId="{160B767C-9D5C-47CB-B750-27887D5C0376}" type="parTrans" cxnId="{F62B3525-0407-4B18-9E51-3A5A613C6A6F}">
      <dgm:prSet/>
      <dgm:spPr/>
      <dgm:t>
        <a:bodyPr/>
        <a:lstStyle/>
        <a:p>
          <a:endParaRPr lang="en-US"/>
        </a:p>
      </dgm:t>
    </dgm:pt>
    <dgm:pt modelId="{04152A16-FCEF-434A-9E67-5EBF5A1EB13E}" type="sibTrans" cxnId="{F62B3525-0407-4B18-9E51-3A5A613C6A6F}">
      <dgm:prSet/>
      <dgm:spPr/>
      <dgm:t>
        <a:bodyPr/>
        <a:lstStyle/>
        <a:p>
          <a:endParaRPr lang="en-US"/>
        </a:p>
      </dgm:t>
    </dgm:pt>
    <dgm:pt modelId="{B4665945-5311-48CE-8C87-062A09D0A931}">
      <dgm:prSet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Pattern wise, was</a:t>
          </a:r>
          <a:r>
            <a:rPr lang="en-US" dirty="0"/>
            <a:t> </a:t>
          </a:r>
          <a:r>
            <a:rPr lang="en-US" dirty="0" err="1"/>
            <a:t>mediam</a:t>
          </a:r>
          <a:r>
            <a:rPr lang="en-US" dirty="0"/>
            <a:t> decreasing with larger populations or any </a:t>
          </a:r>
          <a:r>
            <a:rPr lang="en-US" dirty="0">
              <a:latin typeface="Aptos Display" panose="020F0302020204030204"/>
            </a:rPr>
            <a:t>other similar trends an outlier because of the small scope of 2024-2025 or a long-term pattern?</a:t>
          </a:r>
          <a:endParaRPr lang="en-US" dirty="0"/>
        </a:p>
      </dgm:t>
    </dgm:pt>
    <dgm:pt modelId="{CBC7ACD5-2E19-4D70-98AD-3B1B60AC494D}" type="parTrans" cxnId="{16C0022C-4BAC-4168-A40F-79D136AADFFF}">
      <dgm:prSet/>
      <dgm:spPr/>
      <dgm:t>
        <a:bodyPr/>
        <a:lstStyle/>
        <a:p>
          <a:endParaRPr lang="en-US"/>
        </a:p>
      </dgm:t>
    </dgm:pt>
    <dgm:pt modelId="{AE43E6A0-7E55-4A6E-BDDD-80C63506F3EB}" type="sibTrans" cxnId="{16C0022C-4BAC-4168-A40F-79D136AADFFF}">
      <dgm:prSet/>
      <dgm:spPr/>
      <dgm:t>
        <a:bodyPr/>
        <a:lstStyle/>
        <a:p>
          <a:endParaRPr lang="en-US"/>
        </a:p>
      </dgm:t>
    </dgm:pt>
    <dgm:pt modelId="{DFD52D05-EB46-4538-9D16-102957BE6827}">
      <dgm:prSet/>
      <dgm:spPr/>
      <dgm:t>
        <a:bodyPr/>
        <a:lstStyle/>
        <a:p>
          <a:r>
            <a:rPr lang="en-US" dirty="0"/>
            <a:t>This whole project was a lesson in scope, rather than deciding to do all the population's a dumb decision in retrospect, it would've been much more effective (and easier on my part) to simply pick a smaller sample of countries and do any wanted data of them over the years. </a:t>
          </a:r>
        </a:p>
      </dgm:t>
    </dgm:pt>
    <dgm:pt modelId="{FB8C8033-61B9-4A89-B1C5-6ED778099A5C}" type="parTrans" cxnId="{B582EFF7-89D2-4F05-A94E-0ACF742052D3}">
      <dgm:prSet/>
      <dgm:spPr/>
      <dgm:t>
        <a:bodyPr/>
        <a:lstStyle/>
        <a:p>
          <a:endParaRPr lang="en-US"/>
        </a:p>
      </dgm:t>
    </dgm:pt>
    <dgm:pt modelId="{B2DF3CF4-C372-4B24-9ACE-91A795E3F96D}" type="sibTrans" cxnId="{B582EFF7-89D2-4F05-A94E-0ACF742052D3}">
      <dgm:prSet/>
      <dgm:spPr/>
      <dgm:t>
        <a:bodyPr/>
        <a:lstStyle/>
        <a:p>
          <a:endParaRPr lang="en-US"/>
        </a:p>
      </dgm:t>
    </dgm:pt>
    <dgm:pt modelId="{9F5DE84B-3428-4167-990D-F3DBA9A8AB93}" type="pres">
      <dgm:prSet presAssocID="{0C3385DF-3606-4594-A7FC-4606A61EB5EE}" presName="Name0" presStyleCnt="0">
        <dgm:presLayoutVars>
          <dgm:dir/>
          <dgm:resizeHandles val="exact"/>
        </dgm:presLayoutVars>
      </dgm:prSet>
      <dgm:spPr/>
    </dgm:pt>
    <dgm:pt modelId="{DD66053A-7E51-47D6-BC11-20D7795BFA4F}" type="pres">
      <dgm:prSet presAssocID="{320FF690-34AB-487A-BDEC-63920B4E59FC}" presName="node" presStyleLbl="node1" presStyleIdx="0" presStyleCnt="3">
        <dgm:presLayoutVars>
          <dgm:bulletEnabled val="1"/>
        </dgm:presLayoutVars>
      </dgm:prSet>
      <dgm:spPr/>
    </dgm:pt>
    <dgm:pt modelId="{4D8D7B70-2BEC-4187-92F6-E0676D4DECF1}" type="pres">
      <dgm:prSet presAssocID="{04152A16-FCEF-434A-9E67-5EBF5A1EB13E}" presName="sibTrans" presStyleLbl="sibTrans2D1" presStyleIdx="0" presStyleCnt="2"/>
      <dgm:spPr/>
    </dgm:pt>
    <dgm:pt modelId="{F8073A59-50A1-4D9D-80C6-F3B53D589B56}" type="pres">
      <dgm:prSet presAssocID="{04152A16-FCEF-434A-9E67-5EBF5A1EB13E}" presName="connectorText" presStyleLbl="sibTrans2D1" presStyleIdx="0" presStyleCnt="2"/>
      <dgm:spPr/>
    </dgm:pt>
    <dgm:pt modelId="{13A86ED5-AE4B-4703-A73D-DF7A538CAE2E}" type="pres">
      <dgm:prSet presAssocID="{B4665945-5311-48CE-8C87-062A09D0A931}" presName="node" presStyleLbl="node1" presStyleIdx="1" presStyleCnt="3">
        <dgm:presLayoutVars>
          <dgm:bulletEnabled val="1"/>
        </dgm:presLayoutVars>
      </dgm:prSet>
      <dgm:spPr/>
    </dgm:pt>
    <dgm:pt modelId="{110570A2-C7C4-424A-BD7F-B09E83C403C6}" type="pres">
      <dgm:prSet presAssocID="{AE43E6A0-7E55-4A6E-BDDD-80C63506F3EB}" presName="sibTrans" presStyleLbl="sibTrans2D1" presStyleIdx="1" presStyleCnt="2"/>
      <dgm:spPr/>
    </dgm:pt>
    <dgm:pt modelId="{0BAA7013-8DD2-44FB-B4CD-13273C65BE15}" type="pres">
      <dgm:prSet presAssocID="{AE43E6A0-7E55-4A6E-BDDD-80C63506F3EB}" presName="connectorText" presStyleLbl="sibTrans2D1" presStyleIdx="1" presStyleCnt="2"/>
      <dgm:spPr/>
    </dgm:pt>
    <dgm:pt modelId="{EF813FC9-26E0-47B2-889F-AEF2A2D1192D}" type="pres">
      <dgm:prSet presAssocID="{DFD52D05-EB46-4538-9D16-102957BE6827}" presName="node" presStyleLbl="node1" presStyleIdx="2" presStyleCnt="3">
        <dgm:presLayoutVars>
          <dgm:bulletEnabled val="1"/>
        </dgm:presLayoutVars>
      </dgm:prSet>
      <dgm:spPr/>
    </dgm:pt>
  </dgm:ptLst>
  <dgm:cxnLst>
    <dgm:cxn modelId="{7DA7BE02-FAC2-4849-92BF-9BF976443211}" type="presOf" srcId="{DFD52D05-EB46-4538-9D16-102957BE6827}" destId="{EF813FC9-26E0-47B2-889F-AEF2A2D1192D}" srcOrd="0" destOrd="0" presId="urn:microsoft.com/office/officeart/2005/8/layout/process1"/>
    <dgm:cxn modelId="{1CD28A08-9465-4592-ABC3-B1AFF17EEA38}" type="presOf" srcId="{AE43E6A0-7E55-4A6E-BDDD-80C63506F3EB}" destId="{0BAA7013-8DD2-44FB-B4CD-13273C65BE15}" srcOrd="1" destOrd="0" presId="urn:microsoft.com/office/officeart/2005/8/layout/process1"/>
    <dgm:cxn modelId="{5299F809-EB63-48E4-9BF5-E100F133C9E0}" type="presOf" srcId="{B4665945-5311-48CE-8C87-062A09D0A931}" destId="{13A86ED5-AE4B-4703-A73D-DF7A538CAE2E}" srcOrd="0" destOrd="0" presId="urn:microsoft.com/office/officeart/2005/8/layout/process1"/>
    <dgm:cxn modelId="{F62B3525-0407-4B18-9E51-3A5A613C6A6F}" srcId="{0C3385DF-3606-4594-A7FC-4606A61EB5EE}" destId="{320FF690-34AB-487A-BDEC-63920B4E59FC}" srcOrd="0" destOrd="0" parTransId="{160B767C-9D5C-47CB-B750-27887D5C0376}" sibTransId="{04152A16-FCEF-434A-9E67-5EBF5A1EB13E}"/>
    <dgm:cxn modelId="{16C0022C-4BAC-4168-A40F-79D136AADFFF}" srcId="{0C3385DF-3606-4594-A7FC-4606A61EB5EE}" destId="{B4665945-5311-48CE-8C87-062A09D0A931}" srcOrd="1" destOrd="0" parTransId="{CBC7ACD5-2E19-4D70-98AD-3B1B60AC494D}" sibTransId="{AE43E6A0-7E55-4A6E-BDDD-80C63506F3EB}"/>
    <dgm:cxn modelId="{7563BC46-3C56-448F-AD62-C95B66237FAF}" type="presOf" srcId="{04152A16-FCEF-434A-9E67-5EBF5A1EB13E}" destId="{F8073A59-50A1-4D9D-80C6-F3B53D589B56}" srcOrd="1" destOrd="0" presId="urn:microsoft.com/office/officeart/2005/8/layout/process1"/>
    <dgm:cxn modelId="{35F47B7D-8DE8-4F23-BC5E-2B9EB769FD2E}" type="presOf" srcId="{AE43E6A0-7E55-4A6E-BDDD-80C63506F3EB}" destId="{110570A2-C7C4-424A-BD7F-B09E83C403C6}" srcOrd="0" destOrd="0" presId="urn:microsoft.com/office/officeart/2005/8/layout/process1"/>
    <dgm:cxn modelId="{09C5A6AF-19CB-4A4E-8CCB-92307F66A17E}" type="presOf" srcId="{04152A16-FCEF-434A-9E67-5EBF5A1EB13E}" destId="{4D8D7B70-2BEC-4187-92F6-E0676D4DECF1}" srcOrd="0" destOrd="0" presId="urn:microsoft.com/office/officeart/2005/8/layout/process1"/>
    <dgm:cxn modelId="{74603ABC-078B-472C-A5C3-DCC1312E8C3B}" type="presOf" srcId="{0C3385DF-3606-4594-A7FC-4606A61EB5EE}" destId="{9F5DE84B-3428-4167-990D-F3DBA9A8AB93}" srcOrd="0" destOrd="0" presId="urn:microsoft.com/office/officeart/2005/8/layout/process1"/>
    <dgm:cxn modelId="{5D65FDE1-322A-4734-BE35-29FF14D3D16C}" type="presOf" srcId="{320FF690-34AB-487A-BDEC-63920B4E59FC}" destId="{DD66053A-7E51-47D6-BC11-20D7795BFA4F}" srcOrd="0" destOrd="0" presId="urn:microsoft.com/office/officeart/2005/8/layout/process1"/>
    <dgm:cxn modelId="{B582EFF7-89D2-4F05-A94E-0ACF742052D3}" srcId="{0C3385DF-3606-4594-A7FC-4606A61EB5EE}" destId="{DFD52D05-EB46-4538-9D16-102957BE6827}" srcOrd="2" destOrd="0" parTransId="{FB8C8033-61B9-4A89-B1C5-6ED778099A5C}" sibTransId="{B2DF3CF4-C372-4B24-9ACE-91A795E3F96D}"/>
    <dgm:cxn modelId="{980A4E69-5C12-4558-9C2D-F20EDDEBD901}" type="presParOf" srcId="{9F5DE84B-3428-4167-990D-F3DBA9A8AB93}" destId="{DD66053A-7E51-47D6-BC11-20D7795BFA4F}" srcOrd="0" destOrd="0" presId="urn:microsoft.com/office/officeart/2005/8/layout/process1"/>
    <dgm:cxn modelId="{4A2FC357-724A-4FA4-BCB3-63801C803CE4}" type="presParOf" srcId="{9F5DE84B-3428-4167-990D-F3DBA9A8AB93}" destId="{4D8D7B70-2BEC-4187-92F6-E0676D4DECF1}" srcOrd="1" destOrd="0" presId="urn:microsoft.com/office/officeart/2005/8/layout/process1"/>
    <dgm:cxn modelId="{26194827-6908-4397-92B9-935D51728FA5}" type="presParOf" srcId="{4D8D7B70-2BEC-4187-92F6-E0676D4DECF1}" destId="{F8073A59-50A1-4D9D-80C6-F3B53D589B56}" srcOrd="0" destOrd="0" presId="urn:microsoft.com/office/officeart/2005/8/layout/process1"/>
    <dgm:cxn modelId="{E2359031-E76B-43F0-83A7-88A5F9F16D65}" type="presParOf" srcId="{9F5DE84B-3428-4167-990D-F3DBA9A8AB93}" destId="{13A86ED5-AE4B-4703-A73D-DF7A538CAE2E}" srcOrd="2" destOrd="0" presId="urn:microsoft.com/office/officeart/2005/8/layout/process1"/>
    <dgm:cxn modelId="{BFC6333A-AAE6-451D-B672-6E1237C71A49}" type="presParOf" srcId="{9F5DE84B-3428-4167-990D-F3DBA9A8AB93}" destId="{110570A2-C7C4-424A-BD7F-B09E83C403C6}" srcOrd="3" destOrd="0" presId="urn:microsoft.com/office/officeart/2005/8/layout/process1"/>
    <dgm:cxn modelId="{87A64CAA-F1D2-4F2A-9669-79673850B843}" type="presParOf" srcId="{110570A2-C7C4-424A-BD7F-B09E83C403C6}" destId="{0BAA7013-8DD2-44FB-B4CD-13273C65BE15}" srcOrd="0" destOrd="0" presId="urn:microsoft.com/office/officeart/2005/8/layout/process1"/>
    <dgm:cxn modelId="{FCB2863C-9FE9-497D-A693-E9342C7FE6F3}" type="presParOf" srcId="{9F5DE84B-3428-4167-990D-F3DBA9A8AB93}" destId="{EF813FC9-26E0-47B2-889F-AEF2A2D1192D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28ADDB-E849-47EB-8FA7-CA0F39A4C50B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3779BC-1CB0-47FD-BBD0-C8FC77380564}">
      <dsp:nvSpPr>
        <dsp:cNvPr id="0" name=""/>
        <dsp:cNvSpPr/>
      </dsp:nvSpPr>
      <dsp:spPr>
        <a:xfrm>
          <a:off x="0" y="212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Despite the large dataset (or maybe as a result of it) there wasn't many trends in it. Many were unable to be determined any clear pattern. </a:t>
          </a:r>
        </a:p>
      </dsp:txBody>
      <dsp:txXfrm>
        <a:off x="0" y="2124"/>
        <a:ext cx="10515600" cy="1449029"/>
      </dsp:txXfrm>
    </dsp:sp>
    <dsp:sp modelId="{7A729292-E3B6-4479-BF16-A7CB1D2FB02D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AB213A-7B06-492F-B8D1-F9696669C8FF}">
      <dsp:nvSpPr>
        <dsp:cNvPr id="0" name=""/>
        <dsp:cNvSpPr/>
      </dsp:nvSpPr>
      <dsp:spPr>
        <a:xfrm>
          <a:off x="0" y="145115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There were some patterns however most surprisingly Mediam age actually decreased with smaller countries on average having an higher mediam age.</a:t>
          </a:r>
        </a:p>
      </dsp:txBody>
      <dsp:txXfrm>
        <a:off x="0" y="1451154"/>
        <a:ext cx="10515600" cy="1449029"/>
      </dsp:txXfrm>
    </dsp:sp>
    <dsp:sp modelId="{DF89BFC7-A1A3-4B37-8F85-5D42E63B476C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51BB16-A858-4E16-859B-C7D1552CA114}">
      <dsp:nvSpPr>
        <dsp:cNvPr id="0" name=""/>
        <dsp:cNvSpPr/>
      </dsp:nvSpPr>
      <dsp:spPr>
        <a:xfrm>
          <a:off x="0" y="2900183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inversly data like migrants, world share and land area increased proportionally to population with more populated countries tending to have these in surplus.</a:t>
          </a:r>
        </a:p>
      </dsp:txBody>
      <dsp:txXfrm>
        <a:off x="0" y="2900183"/>
        <a:ext cx="10515600" cy="14490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66053A-7E51-47D6-BC11-20D7795BFA4F}">
      <dsp:nvSpPr>
        <dsp:cNvPr id="0" name=""/>
        <dsp:cNvSpPr/>
      </dsp:nvSpPr>
      <dsp:spPr>
        <a:xfrm>
          <a:off x="9604" y="420245"/>
          <a:ext cx="2870689" cy="335231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There was some correlation found in the data however one of the problems with the data's limited scope makes any results unclear. From the time period 2024-2025 Is to small to determine any consistent results and account for any outliers. </a:t>
          </a:r>
        </a:p>
      </dsp:txBody>
      <dsp:txXfrm>
        <a:off x="93684" y="504325"/>
        <a:ext cx="2702529" cy="3184154"/>
      </dsp:txXfrm>
    </dsp:sp>
    <dsp:sp modelId="{4D8D7B70-2BEC-4187-92F6-E0676D4DECF1}">
      <dsp:nvSpPr>
        <dsp:cNvPr id="0" name=""/>
        <dsp:cNvSpPr/>
      </dsp:nvSpPr>
      <dsp:spPr>
        <a:xfrm>
          <a:off x="3167362" y="1740437"/>
          <a:ext cx="608586" cy="7119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167362" y="1882823"/>
        <a:ext cx="426010" cy="427158"/>
      </dsp:txXfrm>
    </dsp:sp>
    <dsp:sp modelId="{13A86ED5-AE4B-4703-A73D-DF7A538CAE2E}">
      <dsp:nvSpPr>
        <dsp:cNvPr id="0" name=""/>
        <dsp:cNvSpPr/>
      </dsp:nvSpPr>
      <dsp:spPr>
        <a:xfrm>
          <a:off x="4028569" y="420245"/>
          <a:ext cx="2870689" cy="335231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ptos Display" panose="020F0302020204030204"/>
            </a:rPr>
            <a:t>Pattern wise, was</a:t>
          </a:r>
          <a:r>
            <a:rPr lang="en-US" sz="1800" kern="1200" dirty="0"/>
            <a:t> </a:t>
          </a:r>
          <a:r>
            <a:rPr lang="en-US" sz="1800" kern="1200" dirty="0" err="1"/>
            <a:t>mediam</a:t>
          </a:r>
          <a:r>
            <a:rPr lang="en-US" sz="1800" kern="1200" dirty="0"/>
            <a:t> decreasing with larger populations or any </a:t>
          </a:r>
          <a:r>
            <a:rPr lang="en-US" sz="1800" kern="1200" dirty="0">
              <a:latin typeface="Aptos Display" panose="020F0302020204030204"/>
            </a:rPr>
            <a:t>other similar trends an outlier because of the small scope of 2024-2025 or a long-term pattern?</a:t>
          </a:r>
          <a:endParaRPr lang="en-US" sz="1800" kern="1200" dirty="0"/>
        </a:p>
      </dsp:txBody>
      <dsp:txXfrm>
        <a:off x="4112649" y="504325"/>
        <a:ext cx="2702529" cy="3184154"/>
      </dsp:txXfrm>
    </dsp:sp>
    <dsp:sp modelId="{110570A2-C7C4-424A-BD7F-B09E83C403C6}">
      <dsp:nvSpPr>
        <dsp:cNvPr id="0" name=""/>
        <dsp:cNvSpPr/>
      </dsp:nvSpPr>
      <dsp:spPr>
        <a:xfrm>
          <a:off x="7186328" y="1740437"/>
          <a:ext cx="608586" cy="7119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186328" y="1882823"/>
        <a:ext cx="426010" cy="427158"/>
      </dsp:txXfrm>
    </dsp:sp>
    <dsp:sp modelId="{EF813FC9-26E0-47B2-889F-AEF2A2D1192D}">
      <dsp:nvSpPr>
        <dsp:cNvPr id="0" name=""/>
        <dsp:cNvSpPr/>
      </dsp:nvSpPr>
      <dsp:spPr>
        <a:xfrm>
          <a:off x="8047535" y="420245"/>
          <a:ext cx="2870689" cy="335231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This whole project was a lesson in scope, rather than deciding to do all the population's a dumb decision in retrospect, it would've been much more effective (and easier on my part) to simply pick a smaller sample of countries and do any wanted data of them over the years. </a:t>
          </a:r>
        </a:p>
      </dsp:txBody>
      <dsp:txXfrm>
        <a:off x="8131615" y="504325"/>
        <a:ext cx="2702529" cy="31841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kaggle.com/datasets/samithsachidanandan/world-population-by-countries-2025/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samithsachidanandan/world-population-by-countries-2025/cod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Global Populations.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By James Simpson.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6DFB5A-B9F9-05E2-F5F7-22EA6D090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Data.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F0A5F-F210-BC1E-6BF1-854FDE7D7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My data was </a:t>
            </a:r>
            <a:r>
              <a:rPr lang="en-US" sz="2000">
                <a:ea typeface="+mn-lt"/>
                <a:cs typeface="+mn-lt"/>
                <a:hlinkClick r:id="rId2"/>
              </a:rPr>
              <a:t>World Population by Countries (2025)</a:t>
            </a:r>
            <a:r>
              <a:rPr lang="en-US" sz="2000">
                <a:ea typeface="+mn-lt"/>
                <a:cs typeface="+mn-lt"/>
              </a:rPr>
              <a:t>, a primarily numerical dataset. It has 234 rows and 12 columns meaning 2808 total values.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Most of the data had to be cleaned with Population Net change migrants and other variables needing commas (,) to be removed with Yearly change and Urban population needing percentage (%) to be removed.</a:t>
            </a:r>
            <a:endParaRPr lang="en-US" sz="200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DEBBD4-04A1-ADA9-CE65-5DB5D0595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155" y="2877570"/>
            <a:ext cx="5232654" cy="289672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38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CCE5B1-4A5A-3822-443F-68DD34424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/>
              <a:t>Statisitcs</a:t>
            </a:r>
            <a:r>
              <a:rPr lang="en-US" dirty="0"/>
              <a:t>.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F846F-F7CA-F145-CDCD-E1BFB81CD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For such a large dataset there was a </a:t>
            </a:r>
            <a:r>
              <a:rPr lang="en-US" dirty="0" err="1"/>
              <a:t>suprisingly</a:t>
            </a:r>
            <a:r>
              <a:rPr lang="en-US" dirty="0"/>
              <a:t> small amount of outliers.</a:t>
            </a:r>
          </a:p>
          <a:p>
            <a:r>
              <a:rPr lang="en-US" dirty="0"/>
              <a:t>Despite that there were a few, for yearly change percent Germany had an 0.0% change with despite its size of 84 million only a increase of 4000 people, inversely because of its smaller size Saint Martin's increase of 1200 people gave it a 5.04% change from 2024. The smallest country Holy See also had a 0% change because there was no change in population from last year.</a:t>
            </a:r>
          </a:p>
        </p:txBody>
      </p:sp>
    </p:spTree>
    <p:extLst>
      <p:ext uri="{BB962C8B-B14F-4D97-AF65-F5344CB8AC3E}">
        <p14:creationId xmlns:p14="http://schemas.microsoft.com/office/powerpoint/2010/main" val="3504434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F29C2C85-1492-463C-B805-3FD3FCE93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83D307E-DF68-43F8-97CE-0AAE950A7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71255" y="-1"/>
            <a:ext cx="7649490" cy="5728133"/>
            <a:chOff x="329184" y="1"/>
            <a:chExt cx="524256" cy="5728133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546E3D2-37BF-4528-9851-2B2F628234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28134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52A0C69-DC4E-4FC0-843C-BAA27B3A5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8ED94938-268E-4C0A-A08A-B3980C78B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318045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D185CC-9C27-AF1D-41BF-BD91282D5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232" y="3883014"/>
            <a:ext cx="10071536" cy="9297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Visuals.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610CAC-EB7F-B0C5-BCD8-2A691BF4FA88}"/>
              </a:ext>
            </a:extLst>
          </p:cNvPr>
          <p:cNvSpPr txBox="1"/>
          <p:nvPr/>
        </p:nvSpPr>
        <p:spPr>
          <a:xfrm>
            <a:off x="1060232" y="4943175"/>
            <a:ext cx="10071536" cy="44837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Yearly change vs population ascending (Left) andd Mediam Age vs country by population ascending.</a:t>
            </a:r>
          </a:p>
        </p:txBody>
      </p:sp>
      <p:pic>
        <p:nvPicPr>
          <p:cNvPr id="6" name="Picture 5" descr="A graph of black dots&#10;&#10;AI-generated content may be incorrect.">
            <a:extLst>
              <a:ext uri="{FF2B5EF4-FFF2-40B4-BE49-F238E27FC236}">
                <a16:creationId xmlns:a16="http://schemas.microsoft.com/office/drawing/2014/main" id="{0EF091EA-ACF9-5804-A531-A5B98B6856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94" b="1094"/>
          <a:stretch>
            <a:fillRect/>
          </a:stretch>
        </p:blipFill>
        <p:spPr>
          <a:xfrm>
            <a:off x="897717" y="621323"/>
            <a:ext cx="5069590" cy="3024814"/>
          </a:xfrm>
          <a:prstGeom prst="rect">
            <a:avLst/>
          </a:prstGeom>
        </p:spPr>
      </p:pic>
      <p:pic>
        <p:nvPicPr>
          <p:cNvPr id="4" name="Content Placeholder 3" descr="A graph of black dots&#10;&#10;AI-generated content may be incorrect.">
            <a:extLst>
              <a:ext uri="{FF2B5EF4-FFF2-40B4-BE49-F238E27FC236}">
                <a16:creationId xmlns:a16="http://schemas.microsoft.com/office/drawing/2014/main" id="{36105B34-D3D5-BD00-3EFF-8F3FD9FC8F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612" r="3088" b="-3"/>
          <a:stretch>
            <a:fillRect/>
          </a:stretch>
        </p:blipFill>
        <p:spPr>
          <a:xfrm>
            <a:off x="6228507" y="621323"/>
            <a:ext cx="5065776" cy="30248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61AF184-6211-9DB3-F65F-DF1D78BDA3F3}"/>
              </a:ext>
            </a:extLst>
          </p:cNvPr>
          <p:cNvSpPr txBox="1"/>
          <p:nvPr/>
        </p:nvSpPr>
        <p:spPr>
          <a:xfrm>
            <a:off x="1059898" y="369869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1E8D2F-6B66-E960-9D13-A67A57A41FE8}"/>
              </a:ext>
            </a:extLst>
          </p:cNvPr>
          <p:cNvSpPr txBox="1"/>
          <p:nvPr/>
        </p:nvSpPr>
        <p:spPr>
          <a:xfrm>
            <a:off x="905290" y="3621398"/>
            <a:ext cx="2743200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There is a slight pattern ascending pattern for yearly change but </a:t>
            </a:r>
            <a:r>
              <a:rPr lang="en-US" sz="1600" err="1"/>
              <a:t>determing</a:t>
            </a:r>
            <a:r>
              <a:rPr lang="en-US" sz="1600" dirty="0"/>
              <a:t> that from the graph isn't easy to tell.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50A0CC-A98F-A86E-4F01-A6BB37EF3016}"/>
              </a:ext>
            </a:extLst>
          </p:cNvPr>
          <p:cNvSpPr txBox="1"/>
          <p:nvPr/>
        </p:nvSpPr>
        <p:spPr>
          <a:xfrm>
            <a:off x="6657716" y="3651769"/>
            <a:ext cx="422302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There is a much more visible trend of higher </a:t>
            </a:r>
            <a:r>
              <a:rPr lang="en-US" sz="1600" err="1"/>
              <a:t>mediams</a:t>
            </a:r>
            <a:r>
              <a:rPr lang="en-US" sz="1600" dirty="0"/>
              <a:t> at lower populations here instead.</a:t>
            </a:r>
          </a:p>
        </p:txBody>
      </p:sp>
    </p:spTree>
    <p:extLst>
      <p:ext uri="{BB962C8B-B14F-4D97-AF65-F5344CB8AC3E}">
        <p14:creationId xmlns:p14="http://schemas.microsoft.com/office/powerpoint/2010/main" val="3759806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B35C2-55A2-A435-A21A-6748586B7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Trends.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9BC793-B95D-180C-A6DC-FA3938381C3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3362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8E8735-48D7-256C-9060-6C560C0C0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Retrospect.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FFCC7D-7CB0-F3EF-FE34-D45DAE5AE5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892109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9089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018815-17B2-B10F-37E3-04A2F31B3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16" y="955309"/>
            <a:ext cx="7074568" cy="28989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Sources.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21FDB-78D0-5135-E502-2AD314899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4916" y="4533813"/>
            <a:ext cx="6930189" cy="93846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  <a:hlinkClick r:id="rId2"/>
              </a:rPr>
              <a:t>World Population by Countries (2025)</a:t>
            </a: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on Kaggle.com.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821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Global Populations.</vt:lpstr>
      <vt:lpstr>Data.</vt:lpstr>
      <vt:lpstr>Statisitcs.</vt:lpstr>
      <vt:lpstr>Visuals.</vt:lpstr>
      <vt:lpstr>Trends.</vt:lpstr>
      <vt:lpstr>Retrospect.</vt:lpstr>
      <vt:lpstr>Sources.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224</cp:revision>
  <dcterms:created xsi:type="dcterms:W3CDTF">2025-11-17T01:21:29Z</dcterms:created>
  <dcterms:modified xsi:type="dcterms:W3CDTF">2025-11-17T04:54:59Z</dcterms:modified>
</cp:coreProperties>
</file>